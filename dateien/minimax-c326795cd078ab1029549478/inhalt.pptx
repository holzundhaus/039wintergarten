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39wintergarten/-/blob/51ea3615e92d3fc0f9bac8d2a3daae30a6959e80/_posts/2026-10-31-wintergarten-oder-terrassenueberdachung-abgrenzung.md" TargetMode="External"/><Relationship Id="rId3" Type="http://schemas.openxmlformats.org/officeDocument/2006/relationships/hyperlink" Target="https://holzundhaus.github.io/039wintergarten/dateien/minimax-c326795cd078ab102954947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es ein Wintergarten und nicht nur eine Terrassenüberdachung? · Erklärende Präsentation</a:t>
            </a:r>
          </a:p>
        </p:txBody>
      </p:sp>
      <p:sp>
        <p:nvSpPr>
          <p:cNvPr id="3" name="Content Placeholder 2"/>
          <p:cNvSpPr>
            <a:spLocks noGrp="1"/>
          </p:cNvSpPr>
          <p:nvPr>
            <p:ph idx="1"/>
          </p:nvPr>
        </p:nvSpPr>
        <p:spPr/>
        <p:txBody>
          <a:bodyPr/>
          <a:lstStyle/>
          <a:p>
            <a:r>
              <a:t>Überblick: Wer in München einen Glasanbau plant, sollte früh klären, ob eine offene Terrassenüberdachung oder ein seitlich geschlossener Wintergarten entsteht. Denn die Bezeichnung im Angebot entscheidet nicht über die rechtliche Einordnung. Größe, Anbindung an das Wohnhaus, seitliche Schließung, Nutzung und Beheizung beeinflussen Genehmigungsfragen sowie die konstruktive Planung. Die folgenden Hinweise greifen die Perspektive der Satelliten-Quelle zur Abgrenzung von Wintergarten und Terrassenüberdachung auf und zeigen, welche Fragen vor der Entwurfsentscheidung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Größe allein löst die Einordnung nicht</a:t>
            </a:r>
          </a:p>
        </p:txBody>
      </p:sp>
      <p:sp>
        <p:nvSpPr>
          <p:cNvPr id="3" name="Content Placeholder 2"/>
          <p:cNvSpPr>
            <a:spLocks noGrp="1"/>
          </p:cNvSpPr>
          <p:nvPr>
            <p:ph idx="1"/>
          </p:nvPr>
        </p:nvSpPr>
        <p:spPr/>
        <p:txBody>
          <a:bodyPr/>
          <a:lstStyle/>
          <a:p>
            <a:pPr>
              <a:defRPr sz="1800"/>
            </a:pPr>
            <a:r>
              <a:t>Eine Terrassenüberdachung bis 30 Quadratmetern kann nach dem in der Quelle genannten Artikel 57 Absatz 1 Nummer 1 Buchstabe g der Bayerischen Bauordnung verfahrensfrei sein. Das gilt allerdings nicht automatisch für einen seitlich geschlossenen und mit dem Wohnhaus verbundenen Glasanbau. Auch die dort genannte Regelung für Gebäude bis 75 Kubikmetern Brutto-Rauminhalt lässt sich nicht ohne Prüfung auf einen angebauten Wintergarten übertragen. Entscheidend ist die konkrete bauliche Situation, nicht die Bezeichnung im Verkaufsprospekt. Wer diese Abgrenzung weiter nachvollziehen möchte, findet auf der verknüpften Satelliten-Seite eine ausführlich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Größe allein löst die Einordnung nicht</a:t>
            </a:r>
          </a:p>
        </p:txBody>
      </p:sp>
      <p:sp>
        <p:nvSpPr>
          <p:cNvPr id="3" name="Content Placeholder 2"/>
          <p:cNvSpPr>
            <a:spLocks noGrp="1"/>
          </p:cNvSpPr>
          <p:nvPr>
            <p:ph idx="1"/>
          </p:nvPr>
        </p:nvSpPr>
        <p:spPr/>
        <p:txBody>
          <a:bodyPr/>
          <a:lstStyle/>
          <a:p>
            <a:pPr>
              <a:defRPr sz="1800"/>
            </a:pPr>
            <a:r>
              <a:t>ere Einordnung der unterschiedlichen Bauformen.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Verfahrensfreiheit ist nicht gleich Zulässigkeit</a:t>
            </a:r>
          </a:p>
        </p:txBody>
      </p:sp>
      <p:sp>
        <p:nvSpPr>
          <p:cNvPr id="3" name="Content Placeholder 2"/>
          <p:cNvSpPr>
            <a:spLocks noGrp="1"/>
          </p:cNvSpPr>
          <p:nvPr>
            <p:ph idx="1"/>
          </p:nvPr>
        </p:nvSpPr>
        <p:spPr/>
        <p:txBody>
          <a:bodyPr/>
          <a:lstStyle/>
          <a:p>
            <a:pPr>
              <a:defRPr sz="1800"/>
            </a:pPr>
            <a:r>
              <a:t>Auch wenn ein Vorhaben nach den jeweils geltenden Regeln verfahrensfrei sein sollte, muss es öffentlich-rechtliche Anforderungen einhalten. Für Standorte in München können laut Quelle Baugrenzen und Festsetzungen des Bebauungsplans, Abstandsflächen zu Nachbargrundstücken, Baumschutz, grünordnerische Festsetzungen sowie denkmalrechtliche Belange relevant sein. Die Zustimmung eines Nachbarn ersetzt diese Prüfung nicht. Sinnvoll ist daher, die örtlichen Vorgaben vor der Planung zu erfassen und Unklarheiten mit einer bauvorlageberechtigten Fachperson sowie der zuständigen Stelle abzustimmen. Ergänzende Informationen zur Einordnung der eigenen Gen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Verfahrensfreiheit ist nicht gleich Zulässigkeit</a:t>
            </a:r>
          </a:p>
        </p:txBody>
      </p:sp>
      <p:sp>
        <p:nvSpPr>
          <p:cNvPr id="3" name="Content Placeholder 2"/>
          <p:cNvSpPr>
            <a:spLocks noGrp="1"/>
          </p:cNvSpPr>
          <p:nvPr>
            <p:ph idx="1"/>
          </p:nvPr>
        </p:nvSpPr>
        <p:spPr/>
        <p:txBody>
          <a:bodyPr/>
          <a:lstStyle/>
          <a:p>
            <a:pPr>
              <a:defRPr sz="1800"/>
            </a:pPr>
            <a:r>
              <a:t>ehmigungssituation bietet die verknüpfte Hauptseite zum Thema Baugenehmigung.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Seitliche Schließung verändert die Konstruktion</a:t>
            </a:r>
          </a:p>
        </p:txBody>
      </p:sp>
      <p:sp>
        <p:nvSpPr>
          <p:cNvPr id="3" name="Content Placeholder 2"/>
          <p:cNvSpPr>
            <a:spLocks noGrp="1"/>
          </p:cNvSpPr>
          <p:nvPr>
            <p:ph idx="1"/>
          </p:nvPr>
        </p:nvSpPr>
        <p:spPr/>
        <p:txBody>
          <a:bodyPr/>
          <a:lstStyle/>
          <a:p>
            <a:pPr>
              <a:defRPr sz="1800"/>
            </a:pPr>
            <a:r>
              <a:t>Mit Glas- oder Plattenelementen geschlossene Seiten verändern das Bauteil gegenüber einer offenen Überdachung. Wärmeverluste, Lüftung, Kondensatverhalten und die Lastannahmen am Anschluss zum Haus müssen dann anders betrachtet werden. Das wirkt sich auf Profilquerschnitte, Verglasung und die Ausbildung der Anschlussfuge aus. Bei einem Anbau treffen zudem unterschiedliche bauphysikalische Bedingungen am Übergang zum Bestandsgebäude aufeinander. Wer eine Wandöffnung vergrößert oder neu schafft, sollte Anschlussdetails, Statik und Wärmebrücken deshalb gemeinsam planen. Werden Gründung und Glasanbau von verschiedenen Betrieben ausgeführt, ist ein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Seitliche Schließung verändert die Konstruktion</a:t>
            </a:r>
          </a:p>
        </p:txBody>
      </p:sp>
      <p:sp>
        <p:nvSpPr>
          <p:cNvPr id="3" name="Content Placeholder 2"/>
          <p:cNvSpPr>
            <a:spLocks noGrp="1"/>
          </p:cNvSpPr>
          <p:nvPr>
            <p:ph idx="1"/>
          </p:nvPr>
        </p:nvSpPr>
        <p:spPr/>
        <p:txBody>
          <a:bodyPr/>
          <a:lstStyle/>
          <a:p>
            <a:pPr>
              <a:defRPr sz="1800"/>
            </a:pPr>
            <a:r>
              <a:t>e schriftliche Zuständigkeitsregelung für die Anschlussdetails hilfreich.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Beheizung verändert die spätere Nutzung</a:t>
            </a:r>
          </a:p>
        </p:txBody>
      </p:sp>
      <p:sp>
        <p:nvSpPr>
          <p:cNvPr id="3" name="Content Placeholder 2"/>
          <p:cNvSpPr>
            <a:spLocks noGrp="1"/>
          </p:cNvSpPr>
          <p:nvPr>
            <p:ph idx="1"/>
          </p:nvPr>
        </p:nvSpPr>
        <p:spPr/>
        <p:txBody>
          <a:bodyPr/>
          <a:lstStyle/>
          <a:p>
            <a:pPr>
              <a:defRPr sz="1800"/>
            </a:pPr>
            <a:r>
              <a:t>Ein zunächst unbeheizter Anbau ist nicht automatisch eine vollwertige Erweiterung des Wohnraums. Soll er später dauerhaft beheizt werden, ist dieser Nutzungswechsel nicht lediglich ein Austausch von Glas. Bauordnungsrechtliche und energetische Anforderungen sowie die Dokumentation gegenüber Versicherern und im Energieausweis sind dann erneut zu prüfen. Diese Perspektive hilft, Nutzung und Ausstattung bereits in der ersten Planung klar zu benennen, statt technische und rechtliche Folgen erst nach der Bestellung zu diskutieren.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belastbare Abstimmung</a:t>
            </a:r>
          </a:p>
        </p:txBody>
      </p:sp>
      <p:sp>
        <p:nvSpPr>
          <p:cNvPr id="3" name="Content Placeholder 2"/>
          <p:cNvSpPr>
            <a:spLocks noGrp="1"/>
          </p:cNvSpPr>
          <p:nvPr>
            <p:ph idx="1"/>
          </p:nvPr>
        </p:nvSpPr>
        <p:spPr/>
        <p:txBody>
          <a:bodyPr/>
          <a:lstStyle/>
          <a:p>
            <a:pPr>
              <a:defRPr sz="1800"/>
            </a:pPr>
            <a:r>
              <a:t>Für die Abstimmung mit Fachpersonen und Behörde sollten Bauherrren und Planende vorbereitet sein: einen Lageplan und vorhandene Hauspläne, soweit verfügbar; eine Skizze mit Grundfläche, Höhe, Dachform und Abständen zu Grundstücksgrenzen; eine Beschreibung der geplanten Nutzung und Beheizung; die Darstellung der Verbindung zum Wohnhaus einschließlich Öffnungen; sowie Hinweise auf Bebauungsplan, geschützte Bäume oder besonderen Bestandsschutz. Welche Bauvollmuster tatsächlich einzureichen sind, hängt vom konkreten Verfahren ab. Die Unterlagen ersetzen keine individuelle Prüfung, ermöglichen aber eine zügigere und konkretere Beratung.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Wann ist es ein Wintergarten und nicht nur eine Terrassenüberdachung?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