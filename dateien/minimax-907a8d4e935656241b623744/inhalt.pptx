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wintergarten/bodenaufbau-beheizter-wohnwintergarten/" TargetMode="External"/><Relationship Id="rId3" Type="http://schemas.openxmlformats.org/officeDocument/2006/relationships/hyperlink" Target="https://holzundhaus.github.io/039wintergarten/dateien/minimax-907a8d4e935656241b62374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Bodenaufbau im beheizten Wohnwintergarten: Was vor dem Glasdach geklärt sein muss · Erklärende Präsentation</a:t>
            </a:r>
          </a:p>
        </p:txBody>
      </p:sp>
      <p:sp>
        <p:nvSpPr>
          <p:cNvPr id="3" name="Content Placeholder 2"/>
          <p:cNvSpPr>
            <a:spLocks noGrp="1"/>
          </p:cNvSpPr>
          <p:nvPr>
            <p:ph idx="1"/>
          </p:nvPr>
        </p:nvSpPr>
        <p:spPr/>
        <p:txBody>
          <a:bodyPr/>
          <a:lstStyle/>
          <a:p>
            <a:r>
              <a:t>Überblick: Bevor ein beheizter Wohnwintergarten aus Glas, Profilen und Dächern besteht, braucht er einen durchdachten Bodenaufbau. Dieser bestimmt, wie Gründung, Dämmung, Dampfsperre, Heizungsverteilung und Oberbelag zusammenarbeiten und wie der Übergang zum Haus funktioniert. Der folgende Leitfaden strukturiert die wichtigsten Planungsschritte und macht sichtbar, welche Fragen vor der Montage des Glasdachs geklärt sein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Boden vor der Hülle geplant wird</a:t>
            </a:r>
          </a:p>
        </p:txBody>
      </p:sp>
      <p:sp>
        <p:nvSpPr>
          <p:cNvPr id="3" name="Content Placeholder 2"/>
          <p:cNvSpPr>
            <a:spLocks noGrp="1"/>
          </p:cNvSpPr>
          <p:nvPr>
            <p:ph idx="1"/>
          </p:nvPr>
        </p:nvSpPr>
        <p:spPr/>
        <p:txBody>
          <a:bodyPr/>
          <a:lstStyle/>
          <a:p>
            <a:pPr>
              <a:defRPr sz="1800"/>
            </a:pPr>
            <a:r>
              <a:t>Ein beheizter Wintergarten ist bauphysikalisch ein eigener Raum. Sein Boden grenzt an Erdreich oder einen ungedämmten Bestand, an die Hauswand und an die geplante Wärmeverteilung. Sind diese Übergänge einmal geschlossen, lassen sie sich nur mit großem Aufwand wieder öffnen. Deshalb sollte zuerst der Grundriss mit Türen, Laufwegen und Hausanschluss skizziert werden. Danach wird der Bodenaufbau Schicht für Schicht festgelegt. Erst anschließend folgt die Planung von Profilen, Verglasung und Dachanschluss. Diese Reihenfolge verhindert, dass später Aufstemmungen, nachträgliche Leitungsarbeiten oder undichte Anschlüsse erforderlich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Schichtenfolge als verbindliche Planungsgrundlage</a:t>
            </a:r>
          </a:p>
        </p:txBody>
      </p:sp>
      <p:sp>
        <p:nvSpPr>
          <p:cNvPr id="3" name="Content Placeholder 2"/>
          <p:cNvSpPr>
            <a:spLocks noGrp="1"/>
          </p:cNvSpPr>
          <p:nvPr>
            <p:ph idx="1"/>
          </p:nvPr>
        </p:nvSpPr>
        <p:spPr/>
        <p:txBody>
          <a:bodyPr/>
          <a:lstStyle/>
          <a:p>
            <a:pPr>
              <a:defRPr sz="1800"/>
            </a:pPr>
            <a:r>
              <a:t>Der Aufbau reicht von der Gründung bis zur Oberkante des Belags. Je nach Bestand kommen Streifenfundament, Punktfundamente oder eine durchgehende Bodenplatte infrage. Eine vorhandene Terrassenplatte allein ist kein Nachweis dafür, dass sie als Gründung für einen beheizten Anbau geeignet ist. Die Höhenlage des fertigen Bodens muss zu den Türen am Hausanschluss passen, damit Schwellen, Dichtanschlüsse und Innenraumhöhen zusammenpassen. Zwischen Gründung und Oberbelag liegt die Dämmung. Ihre Lage, Dicke und der Anschluss an der aufgehenden Wand müssen vor dem Schließen feststehen. Auch die Position der Dampfsperre beziehungsweise Dampfbremse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Schichtenfolge als verbindliche Planungsgrundlage</a:t>
            </a:r>
          </a:p>
        </p:txBody>
      </p:sp>
      <p:sp>
        <p:nvSpPr>
          <p:cNvPr id="3" name="Content Placeholder 2"/>
          <p:cNvSpPr>
            <a:spLocks noGrp="1"/>
          </p:cNvSpPr>
          <p:nvPr>
            <p:ph idx="1"/>
          </p:nvPr>
        </p:nvSpPr>
        <p:spPr/>
        <p:txBody>
          <a:bodyPr/>
          <a:lstStyle/>
          <a:p>
            <a:pPr>
              <a:defRPr sz="1800"/>
            </a:pPr>
            <a:r>
              <a:t> entscheidend, damit Feuchte nicht in der Konstruktion eingeschlossen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Leitungen und Durchdringungen früh einplanen</a:t>
            </a:r>
          </a:p>
        </p:txBody>
      </p:sp>
      <p:sp>
        <p:nvSpPr>
          <p:cNvPr id="3" name="Content Placeholder 2"/>
          <p:cNvSpPr>
            <a:spLocks noGrp="1"/>
          </p:cNvSpPr>
          <p:nvPr>
            <p:ph idx="1"/>
          </p:nvPr>
        </p:nvSpPr>
        <p:spPr/>
        <p:txBody>
          <a:bodyPr/>
          <a:lstStyle/>
          <a:p>
            <a:pPr>
              <a:defRPr sz="1800"/>
            </a:pPr>
            <a:r>
              <a:t>Eine Fußbodenheizung verändert sowohl Schichtenfolge als auch Aufbauhöhe. Verteiler, Anschlüsse und Heizkreisaufteilung müssen daher vor dem Verlegen des Estrichs festgelegt sein. Bei einer Verteilung über Wand oder Decke kann der Bodenaufbau dünner ausfallen, die Anforderungen an Dämmung und Dampfdichtheit bleiben jedoch bestehen. Neben den Heizungsleitungen sind auch Strom- und Datenleitungen für Beleuchtung, Steckdosen, Beschattung oder Sensoren zu berücksichtigen. Gegebenenfalls gehören Entwässerungsleitungen in dieselbe Planung. Anschlüsse an der Hauswand sowie Durchdringungen für Leitungen müssen lückenlos ausgeführt werden: Schon wenig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Leitungen und Durchdringungen früh einplanen</a:t>
            </a:r>
          </a:p>
        </p:txBody>
      </p:sp>
      <p:sp>
        <p:nvSpPr>
          <p:cNvPr id="3" name="Content Placeholder 2"/>
          <p:cNvSpPr>
            <a:spLocks noGrp="1"/>
          </p:cNvSpPr>
          <p:nvPr>
            <p:ph idx="1"/>
          </p:nvPr>
        </p:nvSpPr>
        <p:spPr/>
        <p:txBody>
          <a:bodyPr/>
          <a:lstStyle/>
          <a:p>
            <a:pPr>
              <a:defRPr sz="1800"/>
            </a:pPr>
            <a:r>
              <a:t>e Zentimeter offene Stellen können später Feuchte in den Aufbau gelangen lassen.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und Übergänge als Gestaltungsentscheidung</a:t>
            </a:r>
          </a:p>
        </p:txBody>
      </p:sp>
      <p:sp>
        <p:nvSpPr>
          <p:cNvPr id="3" name="Content Placeholder 2"/>
          <p:cNvSpPr>
            <a:spLocks noGrp="1"/>
          </p:cNvSpPr>
          <p:nvPr>
            <p:ph idx="1"/>
          </p:nvPr>
        </p:nvSpPr>
        <p:spPr/>
        <p:txBody>
          <a:bodyPr/>
          <a:lstStyle/>
          <a:p>
            <a:pPr>
              <a:defRPr sz="1800"/>
            </a:pPr>
            <a:r>
              <a:t>Fliesen, Holz, Stein und Kunststoff reagieren unterschiedlich auf Temperatur und Feuchte. Die Wahl des Oberbelags hängt deshalb nicht nur vom Erscheinungsbild ab. Zu berücksichtigen sind auch Trittschalldämmung, gleichmäßiges Verlegebild und die technischen Anforderungen des darunterliegenden Aufbaus. Besonders wichtig ist die Schwellenausbildung zwischen Haus und Wintergarten sowie zum Außenbereich. Sie berührt Höhe, Dichtanschluss und Barrierefreiheit simultaneously und sollte deshalb früh festgelegt werden. Am Hausanschluss treffen mehrere Bauteile und Zuständigkeiten aufeinander. Wenn Gründung, Rohbau und Wintergartenmontage von verschied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und Übergänge als Gestaltungsentscheidung</a:t>
            </a:r>
          </a:p>
        </p:txBody>
      </p:sp>
      <p:sp>
        <p:nvSpPr>
          <p:cNvPr id="3" name="Content Placeholder 2"/>
          <p:cNvSpPr>
            <a:spLocks noGrp="1"/>
          </p:cNvSpPr>
          <p:nvPr>
            <p:ph idx="1"/>
          </p:nvPr>
        </p:nvSpPr>
        <p:spPr/>
        <p:txBody>
          <a:bodyPr/>
          <a:lstStyle/>
          <a:p>
            <a:pPr>
              <a:defRPr sz="1800"/>
            </a:pPr>
            <a:r>
              <a:t>enen Betrieben ausgeführt werden, sollten die Verantwortlichkeiten für Dichtebene und Anschlussdetails früh schriftlich geklärt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praxisnaher Prüfrahmen für die Angebotsplanung</a:t>
            </a:r>
          </a:p>
        </p:txBody>
      </p:sp>
      <p:sp>
        <p:nvSpPr>
          <p:cNvPr id="3" name="Content Placeholder 2"/>
          <p:cNvSpPr>
            <a:spLocks noGrp="1"/>
          </p:cNvSpPr>
          <p:nvPr>
            <p:ph idx="1"/>
          </p:nvPr>
        </p:nvSpPr>
        <p:spPr/>
        <p:txBody>
          <a:bodyPr/>
          <a:lstStyle/>
          <a:p>
            <a:pPr>
              <a:defRPr sz="1800"/>
            </a:pPr>
            <a:r>
              <a:t>In Angeboten werden Boden- und Glasaufbau oft gemeinsam genannt, obwohl sie unterschiedliche Leistungen beschreiben. Lassen Sie deshalb getrennt prüfen, welche Bodenschichten enthalten sind: nur Gründung, nur Oberbelag oder ein vollständiger Aufbau mit Dämmung, Dampfsperre und Heizungsverteilung. Klären Sie außerdem, welche Anschlussleistungen am Haus und an der Gründung enthalten oder ausdrücklich ausgeschlossen sind. Ein belastbares Angebot benennt zudem, wer Maße, Höhen und Dichtanschlüsse festlegt und zu welchem Zeitpunkt der Glasaufbau beginnt. Diese Fragen schaffen eine gemeinsame Planungsgrundlage für alle beteiligten Gewerke. Eine kla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praxisnaher Prüfrahmen für die Angebotsplanung</a:t>
            </a:r>
          </a:p>
        </p:txBody>
      </p:sp>
      <p:sp>
        <p:nvSpPr>
          <p:cNvPr id="3" name="Content Placeholder 2"/>
          <p:cNvSpPr>
            <a:spLocks noGrp="1"/>
          </p:cNvSpPr>
          <p:nvPr>
            <p:ph idx="1"/>
          </p:nvPr>
        </p:nvSpPr>
        <p:spPr/>
        <p:txBody>
          <a:bodyPr/>
          <a:lstStyle/>
          <a:p>
            <a:pPr>
              <a:defRPr sz="1800"/>
            </a:pPr>
            <a:r>
              <a:t>re Beschreibung der gewünschten Nutzung und des vollständigen Bodenaufbaus ist aussagekräftiger als eine vorschnelle Festlegung einzelner Materialien.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Bodenaufbau im beheizten Wohnwintergarten: Was vor dem Glasdach geklärt sein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