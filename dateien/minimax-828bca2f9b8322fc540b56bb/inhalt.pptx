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wintergarten.wordpress.com/2026/10/19/wintergarten-denkmalschutz-muenchen/" TargetMode="External"/><Relationship Id="rId3" Type="http://schemas.openxmlformats.org/officeDocument/2006/relationships/hyperlink" Target="https://holzundhaus.github.io/039wintergarten/dateien/minimax-828bca2f9b8322fc540b56b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und Wintergarten in München: Was vor dem Entwurf zu klären ist · Erklärende Präsentation</a:t>
            </a:r>
          </a:p>
        </p:txBody>
      </p:sp>
      <p:sp>
        <p:nvSpPr>
          <p:cNvPr id="3" name="Content Placeholder 2"/>
          <p:cNvSpPr>
            <a:spLocks noGrp="1"/>
          </p:cNvSpPr>
          <p:nvPr>
            <p:ph idx="1"/>
          </p:nvPr>
        </p:nvSpPr>
        <p:spPr/>
        <p:txBody>
          <a:bodyPr/>
          <a:lstStyle/>
          <a:p>
            <a:r>
              <a:t>Überblick: Wer einen Wintergarten an einem denkmalgeschützten oder erhaltenswerten Gebäude in München planen möchte, muss die denkmalrechtliche Abstimmung von Anfang an in den Planungsprozess einbeziehen. Der folgende Leitfaden zeigt, welche Schritte vor dem ersten Entwurf geklärt werden sollten und wie sich die Anforderungen des Denkmalschutzes systematisch in die Planung integrieren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Denkmalschutz die Planungsreihenfolge verändert</a:t>
            </a:r>
          </a:p>
        </p:txBody>
      </p:sp>
      <p:sp>
        <p:nvSpPr>
          <p:cNvPr id="3" name="Content Placeholder 2"/>
          <p:cNvSpPr>
            <a:spLocks noGrp="1"/>
          </p:cNvSpPr>
          <p:nvPr>
            <p:ph idx="1"/>
          </p:nvPr>
        </p:nvSpPr>
        <p:spPr/>
        <p:txBody>
          <a:bodyPr/>
          <a:lstStyle/>
          <a:p>
            <a:pPr>
              <a:defRPr sz="1800"/>
            </a:pPr>
            <a:r>
              <a:t>Bei einem denkmalgeschützten oder erhaltenswerten Bestandsgebäude in München ist die denkmalrechtliche Abstimmung kein nachgelagerter Schritt, sondern muss vor jeder verbindlichen Planung erfolgen. Das Bayerische Denkmalschutzgesetz regelt den Umgang mit der Bausubstanz, der Ansicht und dem Erscheinungsbild eines geschützten Objekts. Wer diese Anforderungen frühzeitig berücksichtigt, vermeidet aufwendige Umplanungen, die entstehen, wenn Entwürfe nachträglich an denkmalschutzrechtliche Auflagen angepasst werden müssen.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Denkmalrecht und Baurecht getrennt betrachten</a:t>
            </a:r>
          </a:p>
        </p:txBody>
      </p:sp>
      <p:sp>
        <p:nvSpPr>
          <p:cNvPr id="3" name="Content Placeholder 2"/>
          <p:cNvSpPr>
            <a:spLocks noGrp="1"/>
          </p:cNvSpPr>
          <p:nvPr>
            <p:ph idx="1"/>
          </p:nvPr>
        </p:nvSpPr>
        <p:spPr/>
        <p:txBody>
          <a:bodyPr/>
          <a:lstStyle/>
          <a:p>
            <a:pPr>
              <a:defRPr sz="1800"/>
            </a:pPr>
            <a:r>
              <a:t>Bauordnungsrecht und Denkmalrecht prüfen unterschiedliche Aspekte eines Vorhabens. Die Bayerische Bauordnung behandelt Abstandsflächen, Baugrenzen und die Frage der Verfahrensfreiheit. Das Denkmalrecht bewertet hingegen, ob ein Eingriff in die Bausubstanz oder die Ansicht des Gebäudes zulässig ist. Eine erteilte Baugenehmigung ersetzt nicht die denkmalrechtliche Erlaubnis und umgekehrt. Beide Prüfungen müssen parallel und vor dem verbindlichen Entwurf abgeschlossen sein.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Maßgebliche Bestandteile und Schutzumfang erfassen</a:t>
            </a:r>
          </a:p>
        </p:txBody>
      </p:sp>
      <p:sp>
        <p:nvSpPr>
          <p:cNvPr id="3" name="Content Placeholder 2"/>
          <p:cNvSpPr>
            <a:spLocks noGrp="1"/>
          </p:cNvSpPr>
          <p:nvPr>
            <p:ph idx="1"/>
          </p:nvPr>
        </p:nvSpPr>
        <p:spPr/>
        <p:txBody>
          <a:bodyPr/>
          <a:lstStyle/>
          <a:p>
            <a:pPr>
              <a:defRPr sz="1800"/>
            </a:pPr>
            <a:r>
              <a:t>Bevor ein Entwurf entsteht, sollten folgende Punkte geklärt sein: der Schutzstatus des Gebäudes – ob es in der Denkmalschutzliste eingetragen, Teil eines Ensembles oder als erhaltenswert eingestuft ist. Anschließend sind die erhaltenswerten Bestandteile zu erfassen, darunter Fassade, Fensterformate, Sockel, Dachform und Materialität. Auch die Wirkung in einem geschützten Umfeld kann relevant sein, selbst wenn das einzelne Gebäude nicht gelistet 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Worauf die Denkmalbehörde besonders achtet</a:t>
            </a:r>
          </a:p>
        </p:txBody>
      </p:sp>
      <p:sp>
        <p:nvSpPr>
          <p:cNvPr id="3" name="Content Placeholder 2"/>
          <p:cNvSpPr>
            <a:spLocks noGrp="1"/>
          </p:cNvSpPr>
          <p:nvPr>
            <p:ph idx="1"/>
          </p:nvPr>
        </p:nvSpPr>
        <p:spPr/>
        <p:txBody>
          <a:bodyPr/>
          <a:lstStyle/>
          <a:p>
            <a:pPr>
              <a:defRPr sz="1800"/>
            </a:pPr>
            <a:r>
              <a:t>Jede neue Wandöffnung am Bestand gilt als Eingriff in erhaltenswerte Bausubstanz und muss in Lage, Format und Proportion zum vorhandenen Bestand passen. Eine verglaste Aufsattelkonstruktion verändert zudem die Silhouette und Proportion des Gebäudes, weshalb Maßstab, Sprossenaufteilung und Rahmenmaterial gesondert bewertet werden. Auch Material- und Farbwechsel können eine Nachbesserung erfordern, selbst wenn die konstruktive Tragfähigkeit gegeben wäre.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Empfohlene Reihenfolge für die Planung</a:t>
            </a:r>
          </a:p>
        </p:txBody>
      </p:sp>
      <p:sp>
        <p:nvSpPr>
          <p:cNvPr id="3" name="Content Placeholder 2"/>
          <p:cNvSpPr>
            <a:spLocks noGrp="1"/>
          </p:cNvSpPr>
          <p:nvPr>
            <p:ph idx="1"/>
          </p:nvPr>
        </p:nvSpPr>
        <p:spPr/>
        <p:txBody>
          <a:bodyPr/>
          <a:lstStyle/>
          <a:p>
            <a:pPr>
              <a:defRPr sz="1800"/>
            </a:pPr>
            <a:r>
              <a:t>Eine sinnvolle Vorgehensweise trennt die Prüfungen klar: Zunächst wird die Bestandsaufnahme durchgeführt – Bauakte, vorhandene Pläne und sichtbare Substanz werden dokumentiert. Dann folgt die Klärung des Denkmalstatus und des Schutzumfangs. Danach wird eine informelle Voranfrage bei der zuständigen Denkmalbehörde gestellt, um die Grundzüge von Höhe, Anschluss und Eingriffstiefe abzustimmen. Parallel erfolgt die baurechtliche Einordnung hinsichtlich Verfahrensfrage, Baugrenzen und Abstandsflächen. Erst danach wird der Entwurf verbindlich ausgearbeitet.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Unverzichtbare Fachpersonen und nächste Schritte</a:t>
            </a:r>
          </a:p>
        </p:txBody>
      </p:sp>
      <p:sp>
        <p:nvSpPr>
          <p:cNvPr id="3" name="Content Placeholder 2"/>
          <p:cNvSpPr>
            <a:spLocks noGrp="1"/>
          </p:cNvSpPr>
          <p:nvPr>
            <p:ph idx="1"/>
          </p:nvPr>
        </p:nvSpPr>
        <p:spPr/>
        <p:txBody>
          <a:bodyPr/>
          <a:lstStyle/>
          <a:p>
            <a:pPr>
              <a:defRPr sz="1800"/>
            </a:pPr>
            <a:r>
              <a:t>Bei erhaltenswerter Bausubstanz empfiehlt sich die frühzeitige Abstimmung mit einer bauvorlageberechtigten Fachperson, die den Entwurf so führen kann, dass Eingriffe in die Substanz gering bleiben und die Erwartungen der Denkmalbehörde an Anschlussdetails bekannt sind. Für das erste Fachgespräch sollten Lageplan, vorhandene Grundrisse, Skizzen der geplanten Glasflächen sowie eine Erklärung zum Schutzstatus des Gebäudes vorbereitet werden. Diese Unterlagen verkürzen die Zeit bis zu einer belastbaren Aussage, ersetzen aber nicht die erforderlichen denkmalrechtlichen und baurechtlichen Prüfungen.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Denkmalschutz und Wintergarten in München: Was vor dem Entwurf zu klären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