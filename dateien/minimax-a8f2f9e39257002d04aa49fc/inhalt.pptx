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039wintergarten/wintergarten-uebergangszeit-fruehjahr-herbst-ohne-dauerheizung/" TargetMode="External"/><Relationship Id="rId3" Type="http://schemas.openxmlformats.org/officeDocument/2006/relationships/hyperlink" Target="https://holzundhaus.github.io/039wintergarten/dateien/minimax-a8f2f9e39257002d04aa49fc/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Wintergarten in der Übergangszeit: Frühjahr und Herbst ohne Dauerheizung nutzen · Erklärende Präsentation</a:t>
            </a:r>
          </a:p>
        </p:txBody>
      </p:sp>
      <p:sp>
        <p:nvSpPr>
          <p:cNvPr id="3" name="Content Placeholder 2"/>
          <p:cNvSpPr>
            <a:spLocks noGrp="1"/>
          </p:cNvSpPr>
          <p:nvPr>
            <p:ph idx="1"/>
          </p:nvPr>
        </p:nvSpPr>
        <p:spPr/>
        <p:txBody>
          <a:bodyPr/>
          <a:lstStyle/>
          <a:p>
            <a:r>
              <a:t>Überblick: Ein Wintergarten kann im Frühjahr und Herbst angenehm nutzbar sein, ohne dauerhaft beheizt zu werden. Entscheidend ist nicht die maximale Sonneneinstrahlung allein, sondern das Zusammenspiel von Verschattung, Querlüftung und thermischer Trennung zum Wohnhaus. Der folgende Leitfaden beantwortet, wie sich die Übergangsnutzung praktisch planen und über mehrere Tage testen lässt. Er ergänzt den ausführlichen Ratgeber zur Wintergarten-Übergangszeit und setzt keinen beheizten Wohnwintergarten voraus.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Nutzung soll der Wintergarten in der Übergangszeit ermöglichen?</a:t>
            </a:r>
          </a:p>
        </p:txBody>
      </p:sp>
      <p:sp>
        <p:nvSpPr>
          <p:cNvPr id="3" name="Content Placeholder 2"/>
          <p:cNvSpPr>
            <a:spLocks noGrp="1"/>
          </p:cNvSpPr>
          <p:nvPr>
            <p:ph idx="1"/>
          </p:nvPr>
        </p:nvSpPr>
        <p:spPr/>
        <p:txBody>
          <a:bodyPr/>
          <a:lstStyle/>
          <a:p>
            <a:pPr>
              <a:defRPr sz="1800"/>
            </a:pPr>
            <a:r>
              <a:t>Die Übergangszeit umfasst Wochen, in denen es tagsüber häufig wärmer als 10 °C ist, nachts aber deutlich kühler wird. Die Sonne erwärmt den Glasanbau dann häufig so stark, dass bereits eine überschaubare Lüftung genügt. Zugleich kann der Raum nach Sonnenuntergang rasch auskühlen. Ziel sollte daher nicht sein, jede Temperaturdifferenz technisch auszugleichen, sondern die Nutzungstage möglichst lange zu verlängern. Ein sinnvoller Zielrahmen ist: tagsüber solare Wärme nutzen, warme Luft kontrolliert abführen und nachts eine unkontrollierte Auskühlung des Hauses vermeiden. Ob punktuelle Zusatzwärme sinnvoll ist, hängt von den baulichen Gegebenhei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Nutzung soll der Wintergarten in der Übergangszeit ermöglichen?</a:t>
            </a:r>
          </a:p>
        </p:txBody>
      </p:sp>
      <p:sp>
        <p:nvSpPr>
          <p:cNvPr id="3" name="Content Placeholder 2"/>
          <p:cNvSpPr>
            <a:spLocks noGrp="1"/>
          </p:cNvSpPr>
          <p:nvPr>
            <p:ph idx="1"/>
          </p:nvPr>
        </p:nvSpPr>
        <p:spPr/>
        <p:txBody>
          <a:bodyPr/>
          <a:lstStyle/>
          <a:p>
            <a:pPr>
              <a:defRPr sz="1800"/>
            </a:pPr>
            <a:r>
              <a:t>ten und dem gewünschten Komfort ab.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lassen sich Sonne, Verschattung und Querlüftung sinnvoll kombinieren?</a:t>
            </a:r>
          </a:p>
        </p:txBody>
      </p:sp>
      <p:sp>
        <p:nvSpPr>
          <p:cNvPr id="3" name="Content Placeholder 2"/>
          <p:cNvSpPr>
            <a:spLocks noGrp="1"/>
          </p:cNvSpPr>
          <p:nvPr>
            <p:ph idx="1"/>
          </p:nvPr>
        </p:nvSpPr>
        <p:spPr/>
        <p:txBody>
          <a:bodyPr/>
          <a:lstStyle/>
          <a:p>
            <a:pPr>
              <a:defRPr sz="1800"/>
            </a:pPr>
            <a:r>
              <a:t>Verschattung und Lüftung erfüllen in der Übergangszeit unterschiedliche Aufgaben. Die Verschattung dosiert den solaren Wärmeeintrag, die Querlüftung führt bereits erwärmte Luft ab. Beide Systeme sollten deshalb getrennt bedienbar sein. Dach und Seitenflächen benötigen unterschiedliche Maßnahmen, weil sich die Sonneneinstrahlung im Tagesverlauf verändert. West- und Südseiten sind beispielsweise in den Abendstunden stärker zu beachten. Bei der Beschattung sind eine nachvollziehbare manuelle Bedienung, guter Wartungszugang und die Möglichkeit zur Funktionsprüfung wichtig. Für die Lüftung empfiehlt sich ein klarer Luftweg: niedrigere Zuluftöffnun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lassen sich Sonne, Verschattung und Querlüftung sinnvoll kombinieren?</a:t>
            </a:r>
          </a:p>
        </p:txBody>
      </p:sp>
      <p:sp>
        <p:nvSpPr>
          <p:cNvPr id="3" name="Content Placeholder 2"/>
          <p:cNvSpPr>
            <a:spLocks noGrp="1"/>
          </p:cNvSpPr>
          <p:nvPr>
            <p:ph idx="1"/>
          </p:nvPr>
        </p:nvSpPr>
        <p:spPr/>
        <p:txBody>
          <a:bodyPr/>
          <a:lstStyle/>
          <a:p>
            <a:pPr>
              <a:defRPr sz="1800"/>
            </a:pPr>
            <a:r>
              <a:t>gen und höher gelegene Abluftöffnungen, möglichst gegenüberliegend oder versetzt. Lüftungsklappen oder Schieber sollten auch bei Regen nutzbar bleiben. So kann Regenwetter nicht automatisch zu geschlossenen Öffnungen und stickiger Luft führen.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trennt der Wintergarten das Wohnhaus vor nächtlicher Auskühlung?</a:t>
            </a:r>
          </a:p>
        </p:txBody>
      </p:sp>
      <p:sp>
        <p:nvSpPr>
          <p:cNvPr id="3" name="Content Placeholder 2"/>
          <p:cNvSpPr>
            <a:spLocks noGrp="1"/>
          </p:cNvSpPr>
          <p:nvPr>
            <p:ph idx="1"/>
          </p:nvPr>
        </p:nvSpPr>
        <p:spPr/>
        <p:txBody>
          <a:bodyPr/>
          <a:lstStyle/>
          <a:p>
            <a:pPr>
              <a:defRPr sz="1800"/>
            </a:pPr>
            <a:r>
              <a:t>Ein unbeheizter Wintergarten wird nachts schnell zum kalten Ausläufer des Wohnhauses. Eine verschließbare und möglichst gedämmte Tür zum Wohnraum kann deshalb einen großen Unterschied machen. Auch der Wandanschluss und der Bodenaufbau gehören in dieselbe Planung: Wärmebrücken und ein unzureichend gedämmter Boden beeinträchtigen den Komfort und können in der feuchten Übergangszeit Kondensat begünstigen. Diese thermische Trennung ist etwas anderes als eine Zwangsheizung. Sie hält den Aufenthaltsbereich nutzbar und verhindert, dass der ausgekühlte Vorbau die angrenzende Innenwand des Hauses mit herunterzieht. Spätestens bei der Planung sollte 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trennt der Wintergarten das Wohnhaus vor nächtlicher Auskühlung?</a:t>
            </a:r>
          </a:p>
        </p:txBody>
      </p:sp>
      <p:sp>
        <p:nvSpPr>
          <p:cNvPr id="3" name="Content Placeholder 2"/>
          <p:cNvSpPr>
            <a:spLocks noGrp="1"/>
          </p:cNvSpPr>
          <p:nvPr>
            <p:ph idx="1"/>
          </p:nvPr>
        </p:nvSpPr>
        <p:spPr/>
        <p:txBody>
          <a:bodyPr/>
          <a:lstStyle/>
          <a:p>
            <a:pPr>
              <a:defRPr sz="1800"/>
            </a:pPr>
            <a:r>
              <a:t>shalb geklärt werden, ob und wie die Verbindung zum Wohnraum im Frühjahr und Herbst geschlossen wird.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ist eine Lüftungsautomatik hilfreich?</a:t>
            </a:r>
          </a:p>
        </p:txBody>
      </p:sp>
      <p:sp>
        <p:nvSpPr>
          <p:cNvPr id="3" name="Content Placeholder 2"/>
          <p:cNvSpPr>
            <a:spLocks noGrp="1"/>
          </p:cNvSpPr>
          <p:nvPr>
            <p:ph idx="1"/>
          </p:nvPr>
        </p:nvSpPr>
        <p:spPr/>
        <p:txBody>
          <a:bodyPr/>
          <a:lstStyle/>
          <a:p>
            <a:pPr>
              <a:defRPr sz="1800"/>
            </a:pPr>
            <a:r>
              <a:t>Eine Automatik kann sinnvoll sein, wenn der Wintergarten regelmäßig ohne Aufsicht genutzt wird oder die baulichen Öffnungen klein, hoch angeordnet oder schwer zugänglich sind. Entscheidend ist jedoch, dass Zuluft und Abluft tatsächlich zusammenarbeiten und sich nicht nur einzelne Klappen bewegen. Vor einer technischen Ergänzung sollten daher zunächst die verfügbaren Öffnungen, ihre Regenfestigkeit und die tatsächliche Bedienung geprüft werden. Automatik und manuelle Reserve schließen einander nicht aus. Gerade bei einem Stromausfall oder bei wechselhaftem Wetter bleibt eine verständliche Handbedienung nützlich. Die Anforderungen an eine techn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ist eine Lüftungsautomatik hilfreich?</a:t>
            </a:r>
          </a:p>
        </p:txBody>
      </p:sp>
      <p:sp>
        <p:nvSpPr>
          <p:cNvPr id="3" name="Content Placeholder 2"/>
          <p:cNvSpPr>
            <a:spLocks noGrp="1"/>
          </p:cNvSpPr>
          <p:nvPr>
            <p:ph idx="1"/>
          </p:nvPr>
        </p:nvSpPr>
        <p:spPr/>
        <p:txBody>
          <a:bodyPr/>
          <a:lstStyle/>
          <a:p>
            <a:pPr>
              <a:defRPr sz="1800"/>
            </a:pPr>
            <a:r>
              <a:t>ische Lösung sollten deshalb zusammen mit Abwesenheitszeiten und der gewünschten Nutzung beschrieben werden, nicht erst, wenn der Raum bereits regelmäßig beheizt oder belüftet werden soll.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lässt sich die Übergangsnutzung vor der Planung praktisch testen?</a:t>
            </a:r>
          </a:p>
        </p:txBody>
      </p:sp>
      <p:sp>
        <p:nvSpPr>
          <p:cNvPr id="3" name="Content Placeholder 2"/>
          <p:cNvSpPr>
            <a:spLocks noGrp="1"/>
          </p:cNvSpPr>
          <p:nvPr>
            <p:ph idx="1"/>
          </p:nvPr>
        </p:nvSpPr>
        <p:spPr/>
        <p:txBody>
          <a:bodyPr/>
          <a:lstStyle/>
          <a:p>
            <a:pPr>
              <a:defRPr sz="1800"/>
            </a:pPr>
            <a:r>
              <a:t>Ein mehrtägiger Alltagstest liefert belastbare Erkenntnisse, bevor Verglasung, Boden und Haustechnik festgelegt werden. An einem sonnigen Tag sollte beobachtet werden, welche Flächen wann Sonne erhalten und wie schnell sich der Raum erwärmt. Anschließend lassen sich die unterschiedlichen Lüftungswege bei Wind und Regen prüfen. Wichtig ist außerdem eine kühle Nacht: Temperaturen im Wintergarten und an der angrenzenden Innenwand können dann verglichen werden. Notiert werden sollte, wann Beschattung, Lüftung und Tür bedient werden mussten. So lässt sich anschließend entscheiden, ob eine zusätzliche Maßnahme tatsächlich nötig ist. Die Ergebnisse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lässt sich die Übergangsnutzung vor der Planung praktisch testen?</a:t>
            </a:r>
          </a:p>
        </p:txBody>
      </p:sp>
      <p:sp>
        <p:nvSpPr>
          <p:cNvPr id="3" name="Content Placeholder 2"/>
          <p:cNvSpPr>
            <a:spLocks noGrp="1"/>
          </p:cNvSpPr>
          <p:nvPr>
            <p:ph idx="1"/>
          </p:nvPr>
        </p:nvSpPr>
        <p:spPr/>
        <p:txBody>
          <a:bodyPr/>
          <a:lstStyle/>
          <a:p>
            <a:pPr>
              <a:defRPr sz="1800"/>
            </a:pPr>
            <a:r>
              <a:t>können in die Anfrage beim Fachbetrieb einfließen und helfen, Verschattung, Lüftung und thermische Trennung entsprechend der vorgesehenen Nutzung zu dimensionieren. Ergänzende Hinweise liefert der Ratgeber zur Wintergarten-Lüftung.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Wintergarten in der Übergangszeit: Frühjahr und Herbst ohne Dauerheizung nutzen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