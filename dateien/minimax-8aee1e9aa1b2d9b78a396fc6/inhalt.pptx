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039wintergarten.blogspot.com/2026/10/wintergarten-als-pflanzenstandort.html" TargetMode="External"/><Relationship Id="rId3" Type="http://schemas.openxmlformats.org/officeDocument/2006/relationships/hyperlink" Target="https://holzundhaus.github.io/039wintergarten/dateien/minimax-8aee1e9aa1b2d9b78a396fc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Wintergarten als Pflanzenstandort: Welche Pflanzen in welchem Klima wirklich gedeihen · Erklärende Präsentation</a:t>
            </a:r>
          </a:p>
        </p:txBody>
      </p:sp>
      <p:sp>
        <p:nvSpPr>
          <p:cNvPr id="3" name="Content Placeholder 2"/>
          <p:cNvSpPr>
            <a:spLocks noGrp="1"/>
          </p:cNvSpPr>
          <p:nvPr>
            <p:ph idx="1"/>
          </p:nvPr>
        </p:nvSpPr>
        <p:spPr/>
        <p:txBody>
          <a:bodyPr/>
          <a:lstStyle/>
          <a:p>
            <a:r>
              <a:t>Überblick: Wer einen Wintergarten als Pflanzenstandort nutzen möchte, sollte nicht mit einer langen Sortenliste beginnen, sondern mit dem tatsächlichen Klima des Raumes. Entscheidend sind Temperaturbereich, Lichtangebot, Lüftung und die vorhandene Pflegezeit. Die folgende Einordnung hilft dabei, zwischen warmem und kaltem Wintergarten zu unterscheiden und realistische Standortfragen zu formulieren. Eine ausführliche Übersicht zur Temperatur- und Nutzungsentscheidung bietet der [Ratgeber zu warmen und kalten Wintergärten](https://www.039wintergarten.de/ratgeber/warm-oder-kalt/).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Das Klima entscheidet über die Pflanzenwahl</a:t>
            </a:r>
          </a:p>
        </p:txBody>
      </p:sp>
      <p:sp>
        <p:nvSpPr>
          <p:cNvPr id="3" name="Content Placeholder 2"/>
          <p:cNvSpPr>
            <a:spLocks noGrp="1"/>
          </p:cNvSpPr>
          <p:nvPr>
            <p:ph idx="1"/>
          </p:nvPr>
        </p:nvSpPr>
        <p:spPr/>
        <p:txBody>
          <a:bodyPr/>
          <a:lstStyle/>
          <a:p>
            <a:pPr>
              <a:defRPr sz="1800"/>
            </a:pPr>
            <a:r>
              <a:t>Ein unbeheizter Wintergarten folgt der Außentemperatur mit einer gewissen Verzögerung. An sonnigen Tagen kann er sich erwärmen, nachts oder bei Kälte kühlt er jedoch wieder ab. Frostfreiheit ist deshalb nicht automatisch gegeben. Geeignet sind vor allem Pflanzen, die auch an geschützten Standorten im Freien mit kurzfristigem Frost zurechtkommen. Dazu gehören winterharte Gehölze und Stauden sowie immergrüne Pflanzen, die leichten Frost vertragen. Mediterrane Kräuter können nur an besonders geschützten, sonnigen Plätzen einen Platz erhalten; einzelne sehr kalte Nächte bleiben trotzdem ein Risiko.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 beheizter Wintergarten erweitert die Möglichkeiten</a:t>
            </a:r>
          </a:p>
        </p:txBody>
      </p:sp>
      <p:sp>
        <p:nvSpPr>
          <p:cNvPr id="3" name="Content Placeholder 2"/>
          <p:cNvSpPr>
            <a:spLocks noGrp="1"/>
          </p:cNvSpPr>
          <p:nvPr>
            <p:ph idx="1"/>
          </p:nvPr>
        </p:nvSpPr>
        <p:spPr/>
        <p:txBody>
          <a:bodyPr/>
          <a:lstStyle/>
          <a:p>
            <a:pPr>
              <a:defRPr sz="1800"/>
            </a:pPr>
            <a:r>
              <a:t>In einem beheizten Wohnwintergarten lässt sich eine bestimmte Mindesttemperatur halten. Dadurch können auch Pflanzen mit dauerhaft höheren Temperaturansprüchen aufgenommen werden. Zugleich verändern sich die Pflegebedingungen: Wärmere Luft nimmt mehr Feuchtigkeit auf, Pflanzen wachsen meist kräftiger und benötigen entsprechend mehr Wasser und Nährstoffe. Ein ganzjährig günstiges Klima kann zudem Schädlinge begünstigen, weil ihre Lebensbedingungen weniger stark unterbrochen werden. Vor einer umfangreichen Sortenplanung sollten deshalb Mindesttemperatur, Lüftungsmöglichkeiten und Urlaubszeiten berücksichtigt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 ist so wichtig wie die Temperatur</a:t>
            </a:r>
          </a:p>
        </p:txBody>
      </p:sp>
      <p:sp>
        <p:nvSpPr>
          <p:cNvPr id="3" name="Content Placeholder 2"/>
          <p:cNvSpPr>
            <a:spLocks noGrp="1"/>
          </p:cNvSpPr>
          <p:nvPr>
            <p:ph idx="1"/>
          </p:nvPr>
        </p:nvSpPr>
        <p:spPr/>
        <p:txBody>
          <a:bodyPr/>
          <a:lstStyle/>
          <a:p>
            <a:pPr>
              <a:defRPr sz="1800"/>
            </a:pPr>
            <a:r>
              <a:t>Das Lichtangebot kann je nach Ausrichtung stark variieren. Südseitige Wintergärten erhalten im Winter viele Sonnenstunden, während nordseitige Bereiche auch im Sommer deutlich dunkler bleiben. Direkt hinter großer Südverglasung bieten sich Standorte für viele blühende Kübelpflanzen und mediterrane Arten an. Halbschattige Bereiche an Seitenwänden oder unter Dachvorsprüngen sind oft für Blattschmuckpflanzen geeignet, die keine pralle Mittagssonne vertragen. Schattige Ecken können Pflanzen aus dem Unterwuchs aufnehmen, benötigen im Wintergarten ohne Zusatzlicht jedoch meist zusätzliche Pflege. Entscheidend ist nicht nur die Lichtmenge, sondern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Licht ist so wichtig wie die Temperatur</a:t>
            </a:r>
          </a:p>
        </p:txBody>
      </p:sp>
      <p:sp>
        <p:nvSpPr>
          <p:cNvPr id="3" name="Content Placeholder 2"/>
          <p:cNvSpPr>
            <a:spLocks noGrp="1"/>
          </p:cNvSpPr>
          <p:nvPr>
            <p:ph idx="1"/>
          </p:nvPr>
        </p:nvSpPr>
        <p:spPr/>
        <p:txBody>
          <a:bodyPr/>
          <a:lstStyle/>
          <a:p>
            <a:pPr>
              <a:defRPr sz="1800"/>
            </a:pPr>
            <a:r>
              <a:t>uch die Dauer der Belichtung.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Lüftung und Beschattung müssen zusammenarbeiten</a:t>
            </a:r>
          </a:p>
        </p:txBody>
      </p:sp>
      <p:sp>
        <p:nvSpPr>
          <p:cNvPr id="3" name="Content Placeholder 2"/>
          <p:cNvSpPr>
            <a:spLocks noGrp="1"/>
          </p:cNvSpPr>
          <p:nvPr>
            <p:ph idx="1"/>
          </p:nvPr>
        </p:nvSpPr>
        <p:spPr/>
        <p:txBody>
          <a:bodyPr/>
          <a:lstStyle/>
          <a:p>
            <a:pPr>
              <a:defRPr sz="1800"/>
            </a:pPr>
            <a:r>
              <a:t>An sonnigen Tagen heizt sich ein Wintergarten schnell auf. Übersteigt die Temperatur das Maß, das die Pflanzen vertragen, stellen viele Arten ihr Wachstum ein oder werfen Blätter ab. Eine wirksame Lüftung berücksichtigt die Lage und Größe der Öffnungen, den Temperaturunterschied zwischen innen und außen sowie den Luftweg. Erst das Zusammenspiel von Lüftung und Beschattung verhindert, dass sich Wärme und Feuchtigkeit stauen. Außenliegende Beschattungen reduzieren die Einstrahlung, bevor sie das Glas erreicht. Innenliegende Lösungen halten einen Teil der Strahlung ab, lassen aber mehr Wärme in den Raum.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Sortenliste den Alltag prüfen</a:t>
            </a:r>
          </a:p>
        </p:txBody>
      </p:sp>
      <p:sp>
        <p:nvSpPr>
          <p:cNvPr id="3" name="Content Placeholder 2"/>
          <p:cNvSpPr>
            <a:spLocks noGrp="1"/>
          </p:cNvSpPr>
          <p:nvPr>
            <p:ph idx="1"/>
          </p:nvPr>
        </p:nvSpPr>
        <p:spPr/>
        <p:txBody>
          <a:bodyPr/>
          <a:lstStyle/>
          <a:p>
            <a:pPr>
              <a:defRPr sz="1800"/>
            </a:pPr>
            <a:r>
              <a:t>Für eine belastbare Pflanzenwahl sollten zunächst die realistischen Tiefst- und Höchsttemperaturen, die Sonnenstunden im Sommer und Winter, die Art der Lüftung, die vorhandene Beschattung sowie die tatsächlich verfügbare Pflegezeit geklärt werden. Besonders wichtig ist außerdem der Übergang zwischen Wintergarten und Haus: Wärmeliebende und kältetolerante Pflanzen profitieren nicht dauerhaft vom selben Klima. Die [Grundlagen zum Wintergarten als Pflanzenstandort](https://039wintergarten.blogspot.com/2026/10/wintergarten-als-pflanzenstandort.html) bieten dafür eine ergänzende Orientierung. Wer diese Fragen vorab beantwortet, kann den Wintergart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Sortenliste den Alltag prüfen</a:t>
            </a:r>
          </a:p>
        </p:txBody>
      </p:sp>
      <p:sp>
        <p:nvSpPr>
          <p:cNvPr id="3" name="Content Placeholder 2"/>
          <p:cNvSpPr>
            <a:spLocks noGrp="1"/>
          </p:cNvSpPr>
          <p:nvPr>
            <p:ph idx="1"/>
          </p:nvPr>
        </p:nvSpPr>
        <p:spPr/>
        <p:txBody>
          <a:bodyPr/>
          <a:lstStyle/>
          <a:p>
            <a:pPr>
              <a:defRPr sz="1800"/>
            </a:pPr>
            <a:r>
              <a:t>en realistisch als Pflanzenstandort nutzen und Enttäuschungen bei der späteren Sortenwahl vermeiden.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Wintergarten als Pflanzenstandort: Welche Pflanzen in welchem Klima wirklich gedeihen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