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39wintergarten.blogspot.com/2026/10/wintergarten-und-smart-home-welche.html" TargetMode="External"/><Relationship Id="rId3" Type="http://schemas.openxmlformats.org/officeDocument/2006/relationships/hyperlink" Target="https://holzundhaus.github.io/039wintergarten/dateien/minimax-60b067b5ed72d19a181bc90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und Smart Home: Welche Sensoren Beschattung und Lüftung wirklich entlasten · Erklärende Präsentation</a:t>
            </a:r>
          </a:p>
        </p:txBody>
      </p:sp>
      <p:sp>
        <p:nvSpPr>
          <p:cNvPr id="3" name="Content Placeholder 2"/>
          <p:cNvSpPr>
            <a:spLocks noGrp="1"/>
          </p:cNvSpPr>
          <p:nvPr>
            <p:ph idx="1"/>
          </p:nvPr>
        </p:nvSpPr>
        <p:spPr/>
        <p:txBody>
          <a:bodyPr/>
          <a:lstStyle/>
          <a:p>
            <a:r>
              <a:t>Überblick: Eine smarte Wintergartensteuerung entsteht nicht durch die bloße Anzahl installierter Sensoren. Entscheidend ist ein nachvollziehbarer Ablauf: Welche Wetterlage wird erkannt, welche Funktion reagiert, welche Sicherheitsregel hat Vorrang und welche Bedienung bleibt manuell möglich. Der folgende Leitfaden hilft, Sensoren und Aktoren so zu planen, dass Beschattung, Lüftung und Schutzfunktionen im Alltag zuverlässig zusammenarbeiten. Für die grundlegende Einordnung außenliegender Beschattung bietet der Beschattungs-Ratgeber einen ergänzenden Einstieg.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Automationsmatrix als Planungsgrundlage</a:t>
            </a:r>
          </a:p>
        </p:txBody>
      </p:sp>
      <p:sp>
        <p:nvSpPr>
          <p:cNvPr id="3" name="Content Placeholder 2"/>
          <p:cNvSpPr>
            <a:spLocks noGrp="1"/>
          </p:cNvSpPr>
          <p:nvPr>
            <p:ph idx="1"/>
          </p:nvPr>
        </p:nvSpPr>
        <p:spPr/>
        <p:txBody>
          <a:bodyPr/>
          <a:lstStyle/>
          <a:p>
            <a:pPr>
              <a:defRPr sz="1800"/>
            </a:pPr>
            <a:r>
              <a:t>Beginnen Sie nicht mit der Auswahl einzelner Geräte, sondern mit einer Automationsmatrix. Jede Zeile verbindet einen Auslöser, eine Priorität, eine Reaktion und einen sicheren Zustand. Ein Auslöser kann Sonneneinstrahlung, Raumtemperatur, Wind oder Regen sein. Als Reaktion kommen beispielsweise das Ausfahren einer Markise, das Öffnen einer Lüftungsklappe oder das Einfahren einer außenliegenden Beschattung infrage. Wichtig ist die Reihenfolge: Sicherheitsrelevanten Signalen wie Sturm muss Vorrang vor Komfortfunktionen eingeräumt werden. Bei gleichzeitigem Sonnenschein und starkem Wind sollte die Anlage beispielsweise geschlossen bleiben, statt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Automationsmatrix als Planungsgrundlage</a:t>
            </a:r>
          </a:p>
        </p:txBody>
      </p:sp>
      <p:sp>
        <p:nvSpPr>
          <p:cNvPr id="3" name="Content Placeholder 2"/>
          <p:cNvSpPr>
            <a:spLocks noGrp="1"/>
          </p:cNvSpPr>
          <p:nvPr>
            <p:ph idx="1"/>
          </p:nvPr>
        </p:nvSpPr>
        <p:spPr/>
        <p:txBody>
          <a:bodyPr/>
          <a:lstStyle/>
          <a:p>
            <a:pPr>
              <a:defRPr sz="1800"/>
            </a:pPr>
            <a:r>
              <a:t> kurz auszufahren und wieder einzufahren. Diese Prioritäten werden verständlicher, wenn die Grundlagen der Beschattungsplanung bereits berücksichtigt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Messgröße wirklich benötigt wird</a:t>
            </a:r>
          </a:p>
        </p:txBody>
      </p:sp>
      <p:sp>
        <p:nvSpPr>
          <p:cNvPr id="3" name="Content Placeholder 2"/>
          <p:cNvSpPr>
            <a:spLocks noGrp="1"/>
          </p:cNvSpPr>
          <p:nvPr>
            <p:ph idx="1"/>
          </p:nvPr>
        </p:nvSpPr>
        <p:spPr/>
        <p:txBody>
          <a:bodyPr/>
          <a:lstStyle/>
          <a:p>
            <a:pPr>
              <a:defRPr sz="1800"/>
            </a:pPr>
            <a:r>
              <a:t>Nicht jede Steuerungsaufgabe benötigt einen eigenen Sensor. Eine Sonneneinstrahlung lässt sich durch einen Sonnensensor bewerten, während ein Temperaturfühler unmittelbar im Wintergarten die tatsächliche Raumtemperatur erfasst. Ein Windsensor schützt außenliegende bewegliche Elemente, und ein Regensensor hilft, offene Lüftungswege bei Wasserzutritt zu schließen. Entscheidend ist der jeweilige Informationszweck. Ein einzelner Innenraumfühler kann für einen stark unterteilten Wintergarten zu ungenau sein, während mehrere Sonnensensoren sinnvoll sein können, wenn Dach, Südseite und verschattete Flächen sehr unterschiedlich belichtet werden. Sens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Messgröße wirklich benötigt wird</a:t>
            </a:r>
          </a:p>
        </p:txBody>
      </p:sp>
      <p:sp>
        <p:nvSpPr>
          <p:cNvPr id="3" name="Content Placeholder 2"/>
          <p:cNvSpPr>
            <a:spLocks noGrp="1"/>
          </p:cNvSpPr>
          <p:nvPr>
            <p:ph idx="1"/>
          </p:nvPr>
        </p:nvSpPr>
        <p:spPr/>
        <p:txBody>
          <a:bodyPr/>
          <a:lstStyle/>
          <a:p>
            <a:pPr>
              <a:defRPr sz="1800"/>
            </a:pPr>
            <a:r>
              <a:t>oren sollten daher nach ihrer Messaufgabe ausgewählt und am späteren Einbauort geprüft werden. Ein zusätzlicher Sensor ohne klare Funktion erhöht lediglich den Konfigurationsaufwand.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Prioritäten und sichere Stellungen festlegen</a:t>
            </a:r>
          </a:p>
        </p:txBody>
      </p:sp>
      <p:sp>
        <p:nvSpPr>
          <p:cNvPr id="3" name="Content Placeholder 2"/>
          <p:cNvSpPr>
            <a:spLocks noGrp="1"/>
          </p:cNvSpPr>
          <p:nvPr>
            <p:ph idx="1"/>
          </p:nvPr>
        </p:nvSpPr>
        <p:spPr/>
        <p:txBody>
          <a:bodyPr/>
          <a:lstStyle/>
          <a:p>
            <a:pPr>
              <a:defRPr sz="1800"/>
            </a:pPr>
            <a:r>
              <a:t>Für jede automatische Reaktion sollte eine sichere Grundstellung hinterlegt sein. Eine typische Prioritätenfolge lautet: Schutz bei Sturm, Schutz vor ungewollter Öffnung bei Regen, anschließend Temperaturlüftung und finally Beschattung wegen Sonneneinstrahlung. Diese Reihenfolge ist ein Planungsbeispiel und muss an der konkreten Anlage geprüft werden. Wind- und Regenereignisse können eine kurzfristige Schließung verlangen, während Sonnenschein eine allmähliche Reaktion benötigt. Nachlaufzeiten und Sperrzeiten helfen, wiederholtes Ein- und Ausfahren zu vermeiden. Auch manuelle Eingriffe sollten vorgesehen bleiben: Für Pflege, außergewöhnliche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Prioritäten und sichere Stellungen festlegen</a:t>
            </a:r>
          </a:p>
        </p:txBody>
      </p:sp>
      <p:sp>
        <p:nvSpPr>
          <p:cNvPr id="3" name="Content Placeholder 2"/>
          <p:cNvSpPr>
            <a:spLocks noGrp="1"/>
          </p:cNvSpPr>
          <p:nvPr>
            <p:ph idx="1"/>
          </p:nvPr>
        </p:nvSpPr>
        <p:spPr/>
        <p:txBody>
          <a:bodyPr/>
          <a:lstStyle/>
          <a:p>
            <a:pPr>
              <a:defRPr sz="1800"/>
            </a:pPr>
            <a:r>
              <a:t>Wetterlagen oder eine gewünschte Rücksetzung darf die Automatik nicht jede Bedienung blockieren.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Lüftung muss baulich funktionieren</a:t>
            </a:r>
          </a:p>
        </p:txBody>
      </p:sp>
      <p:sp>
        <p:nvSpPr>
          <p:cNvPr id="3" name="Content Placeholder 2"/>
          <p:cNvSpPr>
            <a:spLocks noGrp="1"/>
          </p:cNvSpPr>
          <p:nvPr>
            <p:ph idx="1"/>
          </p:nvPr>
        </p:nvSpPr>
        <p:spPr/>
        <p:txBody>
          <a:bodyPr/>
          <a:lstStyle/>
          <a:p>
            <a:pPr>
              <a:defRPr sz="1800"/>
            </a:pPr>
            <a:r>
              <a:t>Ein Regensensor kann offene Dachflächen oder Klappen schließen, aber er schafft keinen brauchbaren Luftweg. Vor der Automatisierung ist zu klären, wohin Luft im Wintergarten tatsächlich strömen soll und ob eine Alternative zum Einbau von Regen trocken bleibt. Ebenso wichtig ist das Gefälle beim Wassereintritt, das nicht allein durch Sensorik gelöst wird. Automatisierte Lüftung sollte daher auf einem nachvollziehbaren baulichen Konzept beruhen. Zeigt die Regelung regelmäßig ungewöhnliche Werte, ist zunächst zu prüfen, ob Türen, Oberkanten, Dachneigungen oder angrenzende Flächen den Luftwechsel beeinflussen. Erst wenn dieser Rahmen geklärt ist,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Lüftung muss baulich funktionieren</a:t>
            </a:r>
          </a:p>
        </p:txBody>
      </p:sp>
      <p:sp>
        <p:nvSpPr>
          <p:cNvPr id="3" name="Content Placeholder 2"/>
          <p:cNvSpPr>
            <a:spLocks noGrp="1"/>
          </p:cNvSpPr>
          <p:nvPr>
            <p:ph idx="1"/>
          </p:nvPr>
        </p:nvSpPr>
        <p:spPr/>
        <p:txBody>
          <a:bodyPr/>
          <a:lstStyle/>
          <a:p>
            <a:pPr>
              <a:defRPr sz="1800"/>
            </a:pPr>
            <a:r>
              <a:t> lassen sich Schwellenwerte sinnvoll festlegen.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 Stromausfall und Praxisprüfung</a:t>
            </a:r>
          </a:p>
        </p:txBody>
      </p:sp>
      <p:sp>
        <p:nvSpPr>
          <p:cNvPr id="3" name="Content Placeholder 2"/>
          <p:cNvSpPr>
            <a:spLocks noGrp="1"/>
          </p:cNvSpPr>
          <p:nvPr>
            <p:ph idx="1"/>
          </p:nvPr>
        </p:nvSpPr>
        <p:spPr/>
        <p:txBody>
          <a:bodyPr/>
          <a:lstStyle/>
          <a:p>
            <a:pPr>
              <a:defRPr sz="1800"/>
            </a:pPr>
            <a:r>
              <a:t>Sensorik bleibt nur zuverlässig, wenn ihre Umgebung und die Steuerung regelmäßig kontrolliert werden. Laub, Insekten und Verschmutzung können Messwerte verfälschen; auch stromloses Gerät und Sensor benötigen einen erreichbaren Zugang. Prüfen Sie deshalb vor der Inbetriebnahme, ob Sensoren frei erreichbar sind und wie sich die Anlage bei Stromausfall, Wartung oder fehlerhaftem Sensor verhält. Sinnvoll ist eine dokumentierte Testroutine für Sonne, Wind, Regen und erhöhte Temperatur. Dabei wird nicht nur geprüft, ob die erwartete Funktion ausgelöst wird, sondern auch, ob Vorrangregeln greifen und die manuelle Bedienung möglich bleibt. Der übersi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 Stromausfall und Praxisprüfung</a:t>
            </a:r>
          </a:p>
        </p:txBody>
      </p:sp>
      <p:sp>
        <p:nvSpPr>
          <p:cNvPr id="3" name="Content Placeholder 2"/>
          <p:cNvSpPr>
            <a:spLocks noGrp="1"/>
          </p:cNvSpPr>
          <p:nvPr>
            <p:ph idx="1"/>
          </p:nvPr>
        </p:nvSpPr>
        <p:spPr/>
        <p:txBody>
          <a:bodyPr/>
          <a:lstStyle/>
          <a:p>
            <a:pPr>
              <a:defRPr sz="1800"/>
            </a:pPr>
            <a:r>
              <a:t>chtliche Beschattungs-Ratgeber kann anschließend helfen, die automatisierten Funktionen mit der konstruktiven Planung abzustimmen.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und Smart Home: Welche Sensoren Beschattung und Lüftung wirklich entlasten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