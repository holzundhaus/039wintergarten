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039wintergarten/-/blob/eb80e24773378be495f7cb8fc98b044585a9b571/_posts/2026-10-25-wintergarten-energielabel-auswirkung-gesamtgebaeude.md" TargetMode="External"/><Relationship Id="rId3" Type="http://schemas.openxmlformats.org/officeDocument/2006/relationships/hyperlink" Target="https://holzundhaus.github.io/039wintergarten/dateien/minimax-72cba88a061da23bc3c371b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 und Energielabel: Wann der Anbau das Gesamtgebäude verändert · Erklärende Präsentation</a:t>
            </a:r>
          </a:p>
        </p:txBody>
      </p:sp>
      <p:sp>
        <p:nvSpPr>
          <p:cNvPr id="3" name="Content Placeholder 2"/>
          <p:cNvSpPr>
            <a:spLocks noGrp="1"/>
          </p:cNvSpPr>
          <p:nvPr>
            <p:ph idx="1"/>
          </p:nvPr>
        </p:nvSpPr>
        <p:spPr/>
        <p:txBody>
          <a:bodyPr/>
          <a:lstStyle/>
          <a:p>
            <a:r>
              <a:t>Überblick: Ein Wintergarten wird oft als einzelnes Bauteil geplant: Glasflächen, Rahmen und Dach stehen im Mittelpunkt. Für den Energieausweis zählt jedoch das energetische Zusammenspiel mit dem bestehenden Gebäude. Entscheidend ist deshalb vor allem, wie der Anbau genutzt und mit dem Haus verbunden wird. Dieser Ratgeber erklärt, wann aus einem Wintergarten ein Erweiterungsbau für das Gesamtgebäude werden kann und welche Fragen Bauherren rechtzeitig mit Fachplanern klären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das Energielabel nicht nur den Wintergarten bewertet</a:t>
            </a:r>
          </a:p>
        </p:txBody>
      </p:sp>
      <p:sp>
        <p:nvSpPr>
          <p:cNvPr id="3" name="Content Placeholder 2"/>
          <p:cNvSpPr>
            <a:spLocks noGrp="1"/>
          </p:cNvSpPr>
          <p:nvPr>
            <p:ph idx="1"/>
          </p:nvPr>
        </p:nvSpPr>
        <p:spPr/>
        <p:txBody>
          <a:bodyPr/>
          <a:lstStyle/>
          <a:p>
            <a:pPr>
              <a:defRPr sz="1800"/>
            </a:pPr>
            <a:r>
              <a:t>Der Energieausweis eines Wohngebäudes bezieht sich nicht auf eine isolierte Scheibe, einen certain U-Wert oder den g-Wert des Wintergartens. Er bewertet das Gebäude als Gesamtkonzept. Wird ein Anbau beheizt und ganzjährig als Wohnraum genutzt, kann seine Hülle Teil der thermischen Hülle des Hauses werden. Auch bauliche Veränderungen am Übergang zwischen Haus und Wintergarten oder eine Anpassung der bestehenden Heizungsverteilung können die energetische Betrachtung des gesamten Gebäudes betreffen. Nicht die Bezeichnung „Wintergarten“ entscheidet damit über die Einordnung, sondern die tatsächliche Nutzung und konstruktive Verbindung. Ebenso wic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das Energielabel nicht nur den Wintergarten bewertet</a:t>
            </a:r>
          </a:p>
        </p:txBody>
      </p:sp>
      <p:sp>
        <p:nvSpPr>
          <p:cNvPr id="3" name="Content Placeholder 2"/>
          <p:cNvSpPr>
            <a:spLocks noGrp="1"/>
          </p:cNvSpPr>
          <p:nvPr>
            <p:ph idx="1"/>
          </p:nvPr>
        </p:nvSpPr>
        <p:spPr/>
        <p:txBody>
          <a:bodyPr/>
          <a:lstStyle/>
          <a:p>
            <a:pPr>
              <a:defRPr sz="1800"/>
            </a:pPr>
            <a:r>
              <a:t>htig ist die Abgrenzung: Kennwerte einzelner Bauteile sagen allein wenig über das Energiekonzept des Gebäudes aus.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Unterschied zwischen unbeheiztem und beheiztem Wintergarten</a:t>
            </a:r>
          </a:p>
        </p:txBody>
      </p:sp>
      <p:sp>
        <p:nvSpPr>
          <p:cNvPr id="3" name="Content Placeholder 2"/>
          <p:cNvSpPr>
            <a:spLocks noGrp="1"/>
          </p:cNvSpPr>
          <p:nvPr>
            <p:ph idx="1"/>
          </p:nvPr>
        </p:nvSpPr>
        <p:spPr/>
        <p:txBody>
          <a:bodyPr/>
          <a:lstStyle/>
          <a:p>
            <a:pPr>
              <a:defRPr sz="1800"/>
            </a:pPr>
            <a:r>
              <a:t>Ein thermisch entkoppelter und unbeheizter Wintergarten bleibt grundsätzlich ein eigener Klimabereich. Ohne dauerhaft offene Verbindung fließt seine Wärmebilanz nicht in die Gesamtbewertung des Wohngebäudes ein. Er dient beispielsweise als Wetterschutz oder zusätzlicher Aufenthaltsbereich, ohne dauerhaft auf die Beheizung des Hauses angewiesen zu sein. Bei einem beheizten Wintergarten sieht die Situation anders aus: Seine Hülle wird Teil der thermischen Gebäudehülle und muss bei einer Erweiterung um beheizte Räume die einschlägigen energetischen Anforderungen an neue Bauteile berücksichtigen. Ob eine Tür abschließbar ist, ob die gewünschte Nu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Unterschied zwischen unbeheiztem und beheiztem Wintergarten</a:t>
            </a:r>
          </a:p>
        </p:txBody>
      </p:sp>
      <p:sp>
        <p:nvSpPr>
          <p:cNvPr id="3" name="Content Placeholder 2"/>
          <p:cNvSpPr>
            <a:spLocks noGrp="1"/>
          </p:cNvSpPr>
          <p:nvPr>
            <p:ph idx="1"/>
          </p:nvPr>
        </p:nvSpPr>
        <p:spPr/>
        <p:txBody>
          <a:bodyPr/>
          <a:lstStyle/>
          <a:p>
            <a:pPr>
              <a:defRPr sz="1800"/>
            </a:pPr>
            <a:r>
              <a:t>tzungstemperatur über das ganze Jahr erreicht werden soll und wie der Anschluss konstruktiv ausgeführt wird, sind deshalb bereits in der Vorphase relevante Planungsfragen.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sich das Energiekonzept des Hauses verändert</a:t>
            </a:r>
          </a:p>
        </p:txBody>
      </p:sp>
      <p:sp>
        <p:nvSpPr>
          <p:cNvPr id="3" name="Content Placeholder 2"/>
          <p:cNvSpPr>
            <a:spLocks noGrp="1"/>
          </p:cNvSpPr>
          <p:nvPr>
            <p:ph idx="1"/>
          </p:nvPr>
        </p:nvSpPr>
        <p:spPr/>
        <p:txBody>
          <a:bodyPr/>
          <a:lstStyle/>
          <a:p>
            <a:pPr>
              <a:defRPr sz="1800"/>
            </a:pPr>
            <a:r>
              <a:t>Die energetische Schwelle wird nicht allein durch eine bestimmte Größe des Anbaus definiert. Besonders relevant ist, ob der Wintergarten beheizt und ganzjährig als Wohnraum genutzt wird, ob eine Wandöffnung ohne abschließbare Tür die Klimabereiche verbindet, ob die Heizungsanlage des Hauses erweitert oder umverteilt wird oder ob die bestehende Gebäudehülle für den Anschluss verändert wird. In diesen Fällen kann der Anbau Teil der bewerteten Gebäudefläche werden und eine Einordnung als Erweiterungsbau im Gebäudeenergierecht auslösen. Für Erweiterungsbauten um beheizte oder gekühlte Räume nennt der Quelltext § 39 des Gebäudemodernisierungsgeset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sich das Energiekonzept des Hauses verändert</a:t>
            </a:r>
          </a:p>
        </p:txBody>
      </p:sp>
      <p:sp>
        <p:nvSpPr>
          <p:cNvPr id="3" name="Content Placeholder 2"/>
          <p:cNvSpPr>
            <a:spLocks noGrp="1"/>
          </p:cNvSpPr>
          <p:nvPr>
            <p:ph idx="1"/>
          </p:nvPr>
        </p:nvSpPr>
        <p:spPr/>
        <p:txBody>
          <a:bodyPr/>
          <a:lstStyle/>
          <a:p>
            <a:pPr>
              <a:defRPr sz="1800"/>
            </a:pPr>
            <a:r>
              <a:t>zes als aktuelle amtliche Vorschrift. Welche Nachweise im konkreten Entwurf erforderlich sind, hängt vom Einzelfall ab und muss individuell geprüft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Angebotserstellung schriftlich feststehen sollte</a:t>
            </a:r>
          </a:p>
        </p:txBody>
      </p:sp>
      <p:sp>
        <p:nvSpPr>
          <p:cNvPr id="3" name="Content Placeholder 2"/>
          <p:cNvSpPr>
            <a:spLocks noGrp="1"/>
          </p:cNvSpPr>
          <p:nvPr>
            <p:ph idx="1"/>
          </p:nvPr>
        </p:nvSpPr>
        <p:spPr/>
        <p:txBody>
          <a:bodyPr/>
          <a:lstStyle/>
          <a:p>
            <a:pPr>
              <a:defRPr sz="1800"/>
            </a:pPr>
            <a:r>
              <a:t>Eine belastbare Planung beginnt mit der gewünschten Nutzung. Bauherren sollten vorab klären, welche Temperatur über das ganze Jahr angestrebt wird, wie der Wintergarten mit dem Haus verbunden sein soll und ob eine spätere Umrüstung vom unbeheizten in einen beheizten Bereich denkbar ist. Diese Angaben können dem Fachplaner helfen, Hülle, Anschlussdetails und energetische Anforderungen frühzeitig aufeinander abzustimmen. Auch die Entscheidung zwischen offener Passage und abschließbarer Tür ist dabei wesentlich. Die Festlegungen ersetzen weder eine Gebäudeplanung noch eine rechtliche Einzelfallprüfung. Sie schaffen jedoch eine klare Grundlage 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Angebotserstellung schriftlich feststehen sollte</a:t>
            </a:r>
          </a:p>
        </p:txBody>
      </p:sp>
      <p:sp>
        <p:nvSpPr>
          <p:cNvPr id="3" name="Content Placeholder 2"/>
          <p:cNvSpPr>
            <a:spLocks noGrp="1"/>
          </p:cNvSpPr>
          <p:nvPr>
            <p:ph idx="1"/>
          </p:nvPr>
        </p:nvSpPr>
        <p:spPr/>
        <p:txBody>
          <a:bodyPr/>
          <a:lstStyle/>
          <a:p>
            <a:pPr>
              <a:defRPr sz="1800"/>
            </a:pPr>
            <a:r>
              <a:t>für, ob der Wintergarten als thermisch getrenntes Bauteil neben dem Haus oder als Erweiterungsbau innerhalb des Gebäudeenergiekonzepts eingeplant wird.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Weiterführende Einordnung ohne vorschnelle Schlüsse</a:t>
            </a:r>
          </a:p>
        </p:txBody>
      </p:sp>
      <p:sp>
        <p:nvSpPr>
          <p:cNvPr id="3" name="Content Placeholder 2"/>
          <p:cNvSpPr>
            <a:spLocks noGrp="1"/>
          </p:cNvSpPr>
          <p:nvPr>
            <p:ph idx="1"/>
          </p:nvPr>
        </p:nvSpPr>
        <p:spPr/>
        <p:txBody>
          <a:bodyPr/>
          <a:lstStyle/>
          <a:p>
            <a:pPr>
              <a:defRPr sz="1800"/>
            </a:pPr>
            <a:r>
              <a:t>Aus der thermischen Einbindung folgt nicht automatisch, dass sich das Energielabel eines Hauses in eine bestimmte Richtung verändert. Die Auswirkungen müssen im Zusammenhang mit dem bestehenden Gebäude und dem konkreten Entwurf bewertet werden. Ebenso sollte die Bezeichnung eines Angebots nicht als Nachweis für die Einhaltung der energetischen Anforderungen verstanden werden. Werden diese Fragen mit den verwendeten Planungsunterlagen und dem Energieausweis abgeglichen, lässt sich frühzeitig erkennen, welche zusätzlichen Nachweise oder Auslegungen erforderlich sind. Ergänzende Hinweise zu Energieausweis und Wintergarten sowie zur Einordnung be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Weiterführende Einordnung ohne vorschnelle Schlüsse</a:t>
            </a:r>
          </a:p>
        </p:txBody>
      </p:sp>
      <p:sp>
        <p:nvSpPr>
          <p:cNvPr id="3" name="Content Placeholder 2"/>
          <p:cNvSpPr>
            <a:spLocks noGrp="1"/>
          </p:cNvSpPr>
          <p:nvPr>
            <p:ph idx="1"/>
          </p:nvPr>
        </p:nvSpPr>
        <p:spPr/>
        <p:txBody>
          <a:bodyPr/>
          <a:lstStyle/>
          <a:p>
            <a:pPr>
              <a:defRPr sz="1800"/>
            </a:pPr>
            <a:r>
              <a:t>heizter Erweiterungsbauten geben dabei Orientierung, ohne die einzelfallbezogene Fachplanung zu ersetzen.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 und Energielabel: Wann der Anbau das Gesamtgebäude verändert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